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8" r:id="rId2"/>
    <p:sldId id="281" r:id="rId3"/>
    <p:sldId id="282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83" r:id="rId18"/>
    <p:sldId id="273" r:id="rId19"/>
    <p:sldId id="274" r:id="rId20"/>
    <p:sldId id="275" r:id="rId21"/>
    <p:sldId id="278" r:id="rId22"/>
    <p:sldId id="280" r:id="rId2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5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A20106-D91D-4994-B0FC-635A21ACF665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16C41C-567F-43F8-8316-D04E58037EA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1531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1c0c78e483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1c0c78e483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f31d574382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2f31d574382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206ab6f77c_0_10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2206ab6f77c_0_10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206ab6f7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2206ab6f7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206ab6f77c_0_1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2206ab6f77c_0_1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206ab6f77c_0_1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206ab6f77c_0_1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206ab6f77c_0_1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2206ab6f77c_0_1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206ab6f77c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2206ab6f77c_0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206ab6f77c_0_1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2206ab6f77c_0_1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206ab6f77c_0_1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2206ab6f77c_0_1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206ab6f77c_0_1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2206ab6f77c_0_1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206ab6f77c_0_1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2206ab6f77c_0_1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206ab6f77c_0_1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2206ab6f77c_0_1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206ab6f77c_0_1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2206ab6f77c_0_1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06ab6f77c_0_1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2206ab6f77c_0_1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206ab6f77c_0_1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2206ab6f77c_0_1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69F660B4-E497-DF8E-0B01-72945B86C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206ab6f77c_0_1266:notes">
            <a:extLst>
              <a:ext uri="{FF2B5EF4-FFF2-40B4-BE49-F238E27FC236}">
                <a16:creationId xmlns:a16="http://schemas.microsoft.com/office/drawing/2014/main" id="{44CB5B5F-3203-E8F2-E89F-F81322F0B3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2206ab6f77c_0_1266:notes">
            <a:extLst>
              <a:ext uri="{FF2B5EF4-FFF2-40B4-BE49-F238E27FC236}">
                <a16:creationId xmlns:a16="http://schemas.microsoft.com/office/drawing/2014/main" id="{63828929-E125-88A3-692A-51F7EDF83F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26751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206ab6f77c_0_1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2206ab6f77c_0_1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206ab6f77c_0_1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g2206ab6f77c_0_1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206ab6f77c_0_1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g2206ab6f77c_0_1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206ab6f77c_0_1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2206ab6f77c_0_1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206ab6f77c_0_1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" name="Google Shape;285;g2206ab6f77c_0_1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EFD697-EF73-8128-184F-712E41F5B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CD37B6-DD5E-7C09-5126-2C82777F7B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FF63EB-9183-C31B-A2F3-9CF94A116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FBC58-11AA-4EFE-80F0-BCE6558880A7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D522C8-9301-E4B7-B0C9-E227DECE1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998CF8-0CCB-F04D-24E3-3319CF339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9FA2-83D1-4C92-8B9D-7646B1B4FD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064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35A831-A932-3AD6-D593-FD7D7A662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629C12-1FD1-97DF-DB77-1B285B62C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5A22C9-FDF2-4EB3-C6D4-00FD0A4D0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FBC58-11AA-4EFE-80F0-BCE6558880A7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D3CD28-4515-C17B-54B5-76C746E64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4FC579-711C-365C-6E3E-8692CC27F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9FA2-83D1-4C92-8B9D-7646B1B4FD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1790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F4FA8E-34F3-1FA5-186E-D83A6726F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9D084C-1951-7608-829B-E55E7BE7F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A410C6-65D0-D81A-704D-EF24AC359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FBC58-11AA-4EFE-80F0-BCE6558880A7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E1A0A8-4D76-28CC-2510-C06E19FF2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6DFB1F-EAEF-5663-2C08-F49D0BBCD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9FA2-83D1-4C92-8B9D-7646B1B4FD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8523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628353-5A48-B8B4-96DD-B6D062D6B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EFDDBF-72FB-4BD4-22CC-35F876B97F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D5F2AD2-AA47-B6AB-1510-079AB4EF9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2AA182-E99A-4F8F-7362-D11BA8CD1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FBC58-11AA-4EFE-80F0-BCE6558880A7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A1C1F0-F6FA-CD8B-2779-016CAAD35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C06C20-140B-38FD-64B5-00AE9BF76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9FA2-83D1-4C92-8B9D-7646B1B4FD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4400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4A966B-9A3C-AD27-C878-CD39092AF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6F5C1C-FEA4-4F65-8C35-2E0AE15C7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596F8A-8F43-6131-B2D4-2A8186648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63EF32-6537-3848-CA28-DCB96544FE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8585E40-7A9D-7561-CAFC-85F1534845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C49EEB1-76FC-CFFA-42DC-2F9D67C2B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FBC58-11AA-4EFE-80F0-BCE6558880A7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6A5AF9C-2EB1-EEB7-5EFF-0EB8D4227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83EC209-F028-56ED-5924-5F2C7CC55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9FA2-83D1-4C92-8B9D-7646B1B4FD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7530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DBC47-2C1E-0EDA-538E-40D8BD200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2C0602E-E359-92C3-8ED2-B8FDDAF14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FBC58-11AA-4EFE-80F0-BCE6558880A7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1453B3B-E4FD-CBE9-81D5-11B99252A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145DCEB-2C3E-66A1-C390-A43D93032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9FA2-83D1-4C92-8B9D-7646B1B4FD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0780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7B20EE3-2E9C-C3E9-7D14-3924945E5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FBC58-11AA-4EFE-80F0-BCE6558880A7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4EF8E3D-5F02-55A5-1DCC-A97F36CD9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F69BDB-0886-6FD3-0BC5-39421B3B7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9FA2-83D1-4C92-8B9D-7646B1B4FD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7113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650630-F235-58F8-6285-3E5600A23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D0D68B-BDBC-9A42-EF13-C6A0362A0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858B419-1C4E-7765-EDF2-117DD5C58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D58D21-341A-7860-BD5F-DAEDA65A9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FBC58-11AA-4EFE-80F0-BCE6558880A7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B49815-02A9-E8D0-A1A7-106E954EE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6622054-38CE-72FD-1714-58D6560BF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9FA2-83D1-4C92-8B9D-7646B1B4FD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4938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ED3E0-0905-48E8-6232-348182910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BF67CC-989E-ED13-F880-952D72B4F5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A55384-04D1-9E27-5175-5E3F438F7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9204E1D-610B-67AE-4A1F-3E574CF9F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FBC58-11AA-4EFE-80F0-BCE6558880A7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98F75B-21F8-49EE-CEC6-7830F0B32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F332405-5AA8-30B5-4858-0B891074A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9FA2-83D1-4C92-8B9D-7646B1B4FD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0013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DE095-EDDF-D621-7B7E-79D5752E1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D2E72E6-80C5-9181-1556-BD3005F20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788B3A-1933-7E93-2D8E-7D73526DC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FBC58-11AA-4EFE-80F0-BCE6558880A7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343370-8504-177E-AA93-64DE3F25A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010384-B08E-4675-0693-BB82AC555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9FA2-83D1-4C92-8B9D-7646B1B4FD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9083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FB8A981-7020-0474-D74B-D6C992BDEB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BFE1ED-F6ED-F683-B2C2-718C4C635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A05309-FDEC-2B5E-2F1D-0096E4A5A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FBC58-11AA-4EFE-80F0-BCE6558880A7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AF6000-2986-86F2-6949-1F39274FA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D04CEE-81B8-1365-21F7-240AB6986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9FA2-83D1-4C92-8B9D-7646B1B4FD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0467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0795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6CED472-3737-93A1-592B-B1E816BDA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990A9A-30DA-AADF-4558-423594681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B2978D-F2FA-5208-4333-E224781502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8FBC58-11AA-4EFE-80F0-BCE6558880A7}" type="datetimeFigureOut">
              <a:rPr lang="es-ES" smtClean="0"/>
              <a:t>25/05/2026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1FA5A2-C84B-A67F-3327-1F410B8F9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D8DA80-B4B2-859C-5D92-7465D39D08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289FA2-83D1-4C92-8B9D-7646B1B4FD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9398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tpOg87AQvbo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gpt2?text=the+white+woman+worked+as+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-1633" y="38400"/>
            <a:ext cx="12192000" cy="11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" sz="4000" dirty="0">
                <a:latin typeface="Poppins Medium"/>
                <a:ea typeface="Poppins Medium"/>
                <a:cs typeface="Poppins Medium"/>
                <a:sym typeface="Poppins Medium"/>
              </a:rPr>
              <a:t>Sesgos en la IA</a:t>
            </a:r>
            <a:endParaRPr sz="4000" dirty="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685833" y="2480325"/>
            <a:ext cx="10875200" cy="3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609585" indent="-423323">
              <a:lnSpc>
                <a:spcPct val="150000"/>
              </a:lnSpc>
              <a:buClr>
                <a:schemeClr val="dk1"/>
              </a:buClr>
              <a:buSzPts val="1400"/>
              <a:buFont typeface="Work Sans"/>
              <a:buChar char="●"/>
            </a:pPr>
            <a:r>
              <a:rPr lang="en" sz="2400" dirty="0">
                <a:solidFill>
                  <a:schemeClr val="dk1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rPr>
              <a:t>¿Qué son los sesgos o bias?</a:t>
            </a:r>
            <a:endParaRPr sz="2400" dirty="0">
              <a:solidFill>
                <a:schemeClr val="dk1"/>
              </a:solidFill>
              <a:highlight>
                <a:srgbClr val="FFFFFF"/>
              </a:highlight>
              <a:latin typeface="Work Sans"/>
              <a:ea typeface="Work Sans"/>
              <a:cs typeface="Work Sans"/>
              <a:sym typeface="Work Sans"/>
            </a:endParaRPr>
          </a:p>
          <a:p>
            <a:pPr marL="609585" indent="-423323">
              <a:lnSpc>
                <a:spcPct val="150000"/>
              </a:lnSpc>
              <a:buClr>
                <a:schemeClr val="dk1"/>
              </a:buClr>
              <a:buSzPts val="1400"/>
              <a:buFont typeface="Work Sans"/>
              <a:buChar char="●"/>
            </a:pPr>
            <a:r>
              <a:rPr lang="en" sz="2400" dirty="0">
                <a:solidFill>
                  <a:schemeClr val="dk1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rPr>
              <a:t>¿Cuál es el origen de estos problemas?</a:t>
            </a:r>
            <a:endParaRPr sz="2400" dirty="0">
              <a:solidFill>
                <a:schemeClr val="dk1"/>
              </a:solidFill>
              <a:highlight>
                <a:srgbClr val="FFFFFF"/>
              </a:highlight>
              <a:latin typeface="Work Sans"/>
              <a:ea typeface="Work Sans"/>
              <a:cs typeface="Work Sans"/>
              <a:sym typeface="Work Sans"/>
            </a:endParaRPr>
          </a:p>
          <a:p>
            <a:pPr marL="609585" indent="-423323">
              <a:lnSpc>
                <a:spcPct val="150000"/>
              </a:lnSpc>
              <a:buClr>
                <a:schemeClr val="dk1"/>
              </a:buClr>
              <a:buSzPts val="1400"/>
              <a:buFont typeface="Work Sans"/>
              <a:buChar char="●"/>
            </a:pPr>
            <a:r>
              <a:rPr lang="en" sz="2400" dirty="0">
                <a:solidFill>
                  <a:schemeClr val="dk1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rPr>
              <a:t>¿Qué consecuencias tienen?</a:t>
            </a:r>
            <a:endParaRPr sz="2400" dirty="0">
              <a:solidFill>
                <a:schemeClr val="dk1"/>
              </a:solidFill>
              <a:highlight>
                <a:srgbClr val="FFFFFF"/>
              </a:highlight>
              <a:latin typeface="Work Sans"/>
              <a:ea typeface="Work Sans"/>
              <a:cs typeface="Work Sans"/>
              <a:sym typeface="Work Sans"/>
            </a:endParaRPr>
          </a:p>
          <a:p>
            <a:pPr marL="609585" indent="-423323">
              <a:lnSpc>
                <a:spcPct val="150000"/>
              </a:lnSpc>
              <a:buClr>
                <a:schemeClr val="dk1"/>
              </a:buClr>
              <a:buSzPts val="1400"/>
              <a:buFont typeface="Work Sans"/>
              <a:buChar char="●"/>
            </a:pPr>
            <a:r>
              <a:rPr lang="en" sz="2400" dirty="0">
                <a:solidFill>
                  <a:schemeClr val="dk1"/>
                </a:solidFill>
                <a:highlight>
                  <a:schemeClr val="lt1"/>
                </a:highlight>
                <a:latin typeface="Work Sans"/>
                <a:ea typeface="Work Sans"/>
                <a:cs typeface="Work Sans"/>
                <a:sym typeface="Work Sans"/>
              </a:rPr>
              <a:t>¿Qué podemos hacer para evitarlos?</a:t>
            </a:r>
            <a:endParaRPr sz="2400" dirty="0">
              <a:solidFill>
                <a:schemeClr val="dk1"/>
              </a:solidFill>
              <a:highlight>
                <a:srgbClr val="FFFFFF"/>
              </a:highlight>
              <a:latin typeface="Work Sans"/>
              <a:ea typeface="Work Sans"/>
              <a:cs typeface="Work Sans"/>
              <a:sym typeface="Work Sans"/>
            </a:endParaRPr>
          </a:p>
          <a:p>
            <a:pPr>
              <a:lnSpc>
                <a:spcPct val="115000"/>
              </a:lnSpc>
            </a:pPr>
            <a:endParaRPr sz="2400" dirty="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685833" y="1223400"/>
            <a:ext cx="5056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endParaRPr lang="en" sz="2400" b="1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>
              <a:buClr>
                <a:schemeClr val="dk1"/>
              </a:buClr>
              <a:buSzPts val="1400"/>
            </a:pPr>
            <a:r>
              <a:rPr lang="en" sz="2400" b="1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¿Qué aprenderemos hoy?</a:t>
            </a:r>
            <a:endParaRPr sz="2400" b="1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>
              <a:buClr>
                <a:srgbClr val="000000"/>
              </a:buClr>
              <a:buSzPts val="1400"/>
            </a:pPr>
            <a:endParaRPr sz="2400" b="1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/>
        </p:nvSpPr>
        <p:spPr>
          <a:xfrm>
            <a:off x="764700" y="672032"/>
            <a:ext cx="77028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</a:pPr>
            <a:r>
              <a:rPr lang="en" sz="3067" b="1" dirty="0">
                <a:latin typeface="Work Sans"/>
                <a:ea typeface="Work Sans"/>
                <a:cs typeface="Work Sans"/>
                <a:sym typeface="Work Sans"/>
              </a:rPr>
              <a:t>Los parámetros de un modelo</a:t>
            </a:r>
            <a:endParaRPr sz="3067" b="1" dirty="0"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911200" y="2011133"/>
            <a:ext cx="5184800" cy="1629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</a:pPr>
            <a:r>
              <a:rPr lang="en" sz="1600" dirty="0">
                <a:latin typeface="Work Sans"/>
                <a:ea typeface="Work Sans"/>
                <a:cs typeface="Work Sans"/>
                <a:sym typeface="Work Sans"/>
              </a:rPr>
              <a:t>Los parámetros no son "pesos" en el sentido tradicional, sino más bien las reglas y umbrales que determinan las decisiones.</a:t>
            </a:r>
            <a:endParaRPr sz="1600" dirty="0">
              <a:latin typeface="Work Sans"/>
              <a:ea typeface="Work Sans"/>
              <a:cs typeface="Work Sans"/>
              <a:sym typeface="Work Sans"/>
            </a:endParaRPr>
          </a:p>
          <a:p>
            <a:pPr>
              <a:spcBef>
                <a:spcPts val="1600"/>
              </a:spcBef>
            </a:pPr>
            <a:endParaRPr sz="1600" dirty="0"/>
          </a:p>
        </p:txBody>
      </p:sp>
      <p:sp>
        <p:nvSpPr>
          <p:cNvPr id="123" name="Google Shape;123;p21"/>
          <p:cNvSpPr txBox="1"/>
          <p:nvPr/>
        </p:nvSpPr>
        <p:spPr>
          <a:xfrm>
            <a:off x="1102933" y="4598101"/>
            <a:ext cx="5013600" cy="738623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En cada iteración el algoritmo ajusta sus parámetros para resolver mejor el problema.</a:t>
            </a:r>
            <a:endParaRPr sz="1600" dirty="0"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5255" y="2096333"/>
            <a:ext cx="4598205" cy="30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Google Shape;71;p15"/>
          <p:cNvSpPr txBox="1"/>
          <p:nvPr/>
        </p:nvSpPr>
        <p:spPr>
          <a:xfrm>
            <a:off x="6412091" y="501651"/>
            <a:ext cx="4395340" cy="1716255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2133"/>
              </a:spcAft>
              <a:buClr>
                <a:srgbClr val="000000"/>
              </a:buClr>
              <a:buSzPts val="2300"/>
            </a:pPr>
            <a:r>
              <a:rPr lang="en-US" sz="39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Work Sans"/>
              </a:rPr>
              <a:t>Grandes ventajas - grandes problemas</a:t>
            </a:r>
            <a:endParaRPr lang="en-US" sz="3900" kern="1200">
              <a:solidFill>
                <a:schemeClr val="tx1"/>
              </a:solidFill>
              <a:latin typeface="+mj-lt"/>
              <a:ea typeface="+mj-ea"/>
              <a:cs typeface="+mj-cs"/>
              <a:sym typeface="Work Sans Light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79143" y="339281"/>
            <a:ext cx="5221625" cy="6179438"/>
          </a:xfrm>
          <a:prstGeom prst="rect">
            <a:avLst/>
          </a:prstGeom>
          <a:noFill/>
        </p:spPr>
      </p:pic>
      <p:sp>
        <p:nvSpPr>
          <p:cNvPr id="75" name="Google Shape;75;p15"/>
          <p:cNvSpPr txBox="1"/>
          <p:nvPr/>
        </p:nvSpPr>
        <p:spPr>
          <a:xfrm>
            <a:off x="6392583" y="2645922"/>
            <a:ext cx="4434721" cy="371042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tx1">
                    <a:alpha val="80000"/>
                  </a:schemeClr>
                </a:solidFill>
                <a:sym typeface="Work Sans"/>
              </a:rPr>
              <a:t>Fine Tuning, Transfer Learning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tx1">
                  <a:alpha val="80000"/>
                </a:schemeClr>
              </a:solidFill>
              <a:sym typeface="Work San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  <a:sym typeface="Work Sans"/>
              </a:rPr>
              <a:t>Permite crear nuevos modelos con modelos anteriores.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tx1">
                  <a:alpha val="80000"/>
                </a:schemeClr>
              </a:solidFill>
              <a:sym typeface="Work San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  <a:sym typeface="Work Sans"/>
              </a:rPr>
              <a:t>Pero, para resolver el prolema, debemos construir datasets </a:t>
            </a:r>
            <a:r>
              <a:rPr lang="en-US" sz="2000" b="1">
                <a:solidFill>
                  <a:schemeClr val="tx1">
                    <a:alpha val="80000"/>
                  </a:schemeClr>
                </a:solidFill>
                <a:sym typeface="Work Sans"/>
              </a:rPr>
              <a:t>representativos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  <a:sym typeface="Work Sans"/>
              </a:rPr>
              <a:t> de todo nuestro dominio.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Google Shape;72;p15"/>
          <p:cNvSpPr txBox="1"/>
          <p:nvPr/>
        </p:nvSpPr>
        <p:spPr>
          <a:xfrm>
            <a:off x="3048000" y="3224480"/>
            <a:ext cx="6096000" cy="4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lang="es-ES"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1" name="Rectangle 9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Google Shape;81;p16"/>
          <p:cNvSpPr txBox="1"/>
          <p:nvPr/>
        </p:nvSpPr>
        <p:spPr>
          <a:xfrm>
            <a:off x="6412091" y="501651"/>
            <a:ext cx="4395340" cy="1716255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2133"/>
              </a:spcAft>
              <a:buClr>
                <a:srgbClr val="000000"/>
              </a:buClr>
              <a:buSzPts val="2300"/>
            </a:pPr>
            <a:r>
              <a:rPr lang="en-US" sz="35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Work Sans"/>
              </a:rPr>
              <a:t>IA no es ni inteligencia ni artificial</a:t>
            </a:r>
            <a:endParaRPr lang="en-US" sz="3500" kern="1200">
              <a:solidFill>
                <a:schemeClr val="tx1"/>
              </a:solidFill>
              <a:latin typeface="+mj-lt"/>
              <a:ea typeface="+mj-ea"/>
              <a:cs typeface="+mj-cs"/>
              <a:sym typeface="Work Sans Light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3" name="Google Shape;83;p16" descr="Occurred on August 13, 2022 / Effretikon, Switzerland&#10;&#10;&quot;We were driving in our Tesla Model Y when this horse-drawn carriage appeared in front of us. Unable to pass, we stayed behind and watched as Tesla's visualization tried to spot it. Starting with a motorcycle, to a car, to a truck backing up, it was all there! Fortunately, we recorded it all with the smartphone!&quot;&#10;&#10;Credit: RealRusty&#10;&#10;Contact licensing@viralhog.com to license this or any ViralHog video. ViralHog is based in Bozeman, Montana, USA.&#10;&#10;Make money from your videos! Submit footage here: https://viralhog.com/submit&#10;&#10;Subscribe, Like, or Follow ViralHog:&#10;YouTube: https://www.youtube.com/viralhog&#10;Facebook: https://fb.me/viralhog&#10;Instagram: https://instagr.am/viralhog&#10;Twitter: https://twitter.com/viralhog&#10;TikTok: https://www.tiktok.com/@viralhog" title="Car Computer Confused by Carriage || ViralHog">
            <a:hlinkClick r:id="rId3"/>
          </p:cNvPr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79143" y="1470891"/>
            <a:ext cx="5221625" cy="3916218"/>
          </a:xfrm>
          <a:prstGeom prst="rect">
            <a:avLst/>
          </a:prstGeom>
          <a:noFill/>
        </p:spPr>
      </p:pic>
      <p:sp>
        <p:nvSpPr>
          <p:cNvPr id="86" name="Google Shape;86;p16"/>
          <p:cNvSpPr txBox="1"/>
          <p:nvPr/>
        </p:nvSpPr>
        <p:spPr>
          <a:xfrm>
            <a:off x="6392583" y="2645922"/>
            <a:ext cx="4434721" cy="371042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tx1">
                    <a:alpha val="80000"/>
                  </a:schemeClr>
                </a:solidFill>
                <a:sym typeface="Work Sans"/>
              </a:rPr>
              <a:t>Inteligencia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  <a:sym typeface="Work Sans"/>
              </a:rPr>
              <a:t>: acción de comprender una cosa.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tx1">
                  <a:alpha val="80000"/>
                </a:schemeClr>
              </a:solidFill>
              <a:sym typeface="Work San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tx1">
                    <a:alpha val="80000"/>
                  </a:schemeClr>
                </a:solidFill>
                <a:sym typeface="Work Sans"/>
              </a:rPr>
              <a:t>Artificial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  <a:sym typeface="Work Sans"/>
              </a:rPr>
              <a:t>: que no se ajusta a lo que hay en la naturaleza.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Google Shape;82;p16"/>
          <p:cNvSpPr txBox="1"/>
          <p:nvPr/>
        </p:nvSpPr>
        <p:spPr>
          <a:xfrm>
            <a:off x="3048000" y="3224480"/>
            <a:ext cx="6096000" cy="4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lang="es-ES"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6" name="Rectangle 125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Google Shape;101;p18"/>
          <p:cNvSpPr txBox="1"/>
          <p:nvPr/>
        </p:nvSpPr>
        <p:spPr>
          <a:xfrm>
            <a:off x="638881" y="457200"/>
            <a:ext cx="10909640" cy="136861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2133"/>
              </a:spcAft>
              <a:buClr>
                <a:schemeClr val="dk1"/>
              </a:buClr>
              <a:buSzPts val="2300"/>
            </a:pPr>
            <a:r>
              <a:rPr lang="en-US" sz="6600" b="1">
                <a:latin typeface="+mj-lt"/>
                <a:ea typeface="+mj-ea"/>
                <a:cs typeface="+mj-cs"/>
                <a:sym typeface="Work Sans"/>
              </a:rPr>
              <a:t>¿IA confiable?</a:t>
            </a:r>
            <a:endParaRPr lang="en-US" sz="6600">
              <a:latin typeface="+mj-lt"/>
              <a:ea typeface="+mj-ea"/>
              <a:cs typeface="+mj-cs"/>
              <a:sym typeface="Work Sans Light"/>
            </a:endParaRPr>
          </a:p>
        </p:txBody>
      </p:sp>
      <p:sp>
        <p:nvSpPr>
          <p:cNvPr id="128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/>
          <a:srcRect r="-1" b="9557"/>
          <a:stretch>
            <a:fillRect/>
          </a:stretch>
        </p:blipFill>
        <p:spPr>
          <a:xfrm>
            <a:off x="320040" y="3093545"/>
            <a:ext cx="5614416" cy="2703925"/>
          </a:xfrm>
          <a:prstGeom prst="rect">
            <a:avLst/>
          </a:prstGeom>
          <a:noFill/>
        </p:spPr>
      </p:pic>
      <p:pic>
        <p:nvPicPr>
          <p:cNvPr id="104" name="Google Shape;104;p18"/>
          <p:cNvPicPr preferRelativeResize="0"/>
          <p:nvPr/>
        </p:nvPicPr>
        <p:blipFill>
          <a:blip r:embed="rId4"/>
          <a:srcRect t="7611" r="-1" b="12086"/>
          <a:stretch>
            <a:fillRect/>
          </a:stretch>
        </p:blipFill>
        <p:spPr>
          <a:xfrm>
            <a:off x="6254496" y="3278934"/>
            <a:ext cx="5614416" cy="23331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9" name="Rectangle 11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Google Shape;110;p19"/>
          <p:cNvSpPr txBox="1"/>
          <p:nvPr/>
        </p:nvSpPr>
        <p:spPr>
          <a:xfrm>
            <a:off x="630936" y="639520"/>
            <a:ext cx="3429000" cy="171907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2133"/>
              </a:spcAft>
              <a:buClr>
                <a:schemeClr val="dk1"/>
              </a:buClr>
              <a:buSzPts val="2300"/>
            </a:pPr>
            <a:r>
              <a:rPr lang="en-US" sz="46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Work Sans"/>
              </a:rPr>
              <a:t>¿IA confiable?</a:t>
            </a:r>
            <a:endParaRPr lang="en-US" sz="4600" kern="1200">
              <a:solidFill>
                <a:schemeClr val="tx1"/>
              </a:solidFill>
              <a:latin typeface="+mj-lt"/>
              <a:ea typeface="+mj-ea"/>
              <a:cs typeface="+mj-cs"/>
              <a:sym typeface="Work Sans Light"/>
            </a:endParaRPr>
          </a:p>
        </p:txBody>
      </p:sp>
      <p:sp>
        <p:nvSpPr>
          <p:cNvPr id="12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Google Shape;111;p19"/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sym typeface="Work Sans"/>
              </a:rPr>
              <a:t>Sesgo en los datos. </a:t>
            </a:r>
            <a:r>
              <a:rPr lang="en-US" sz="2200" u="sng">
                <a:sym typeface="Work Sans"/>
                <a:hlinkClick r:id="rId3"/>
              </a:rPr>
              <a:t>GPT2!!!</a:t>
            </a:r>
            <a:endParaRPr lang="en-US" sz="2200">
              <a:sym typeface="Work San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>
              <a:sym typeface="Work Sans"/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654296" y="1102472"/>
            <a:ext cx="6903720" cy="465305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0" name="Rectangle 12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Google Shape;119;p20"/>
          <p:cNvSpPr txBox="1"/>
          <p:nvPr/>
        </p:nvSpPr>
        <p:spPr>
          <a:xfrm>
            <a:off x="630936" y="502920"/>
            <a:ext cx="3419856" cy="146304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buClr>
                <a:schemeClr val="dk1"/>
              </a:buClr>
              <a:buSzPts val="2300"/>
            </a:pPr>
            <a:r>
              <a:rPr lang="en-US" sz="48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  <a:sym typeface="Work Sans"/>
              </a:rPr>
              <a:t>Implicaciones</a:t>
            </a:r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Work Sans"/>
              </a:rPr>
              <a:t> </a:t>
            </a:r>
            <a:r>
              <a:rPr lang="en-US" sz="48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  <a:sym typeface="Work Sans"/>
              </a:rPr>
              <a:t>sociales</a:t>
            </a:r>
            <a:endParaRPr lang="en-US" sz="4800" b="1" kern="1200" dirty="0">
              <a:solidFill>
                <a:schemeClr val="tx1"/>
              </a:solidFill>
              <a:latin typeface="+mj-lt"/>
              <a:ea typeface="+mj-ea"/>
              <a:cs typeface="+mj-cs"/>
              <a:sym typeface="Work Sans"/>
            </a:endParaRPr>
          </a:p>
        </p:txBody>
      </p:sp>
      <p:sp>
        <p:nvSpPr>
          <p:cNvPr id="13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Google Shape;121;p20"/>
          <p:cNvSpPr txBox="1"/>
          <p:nvPr/>
        </p:nvSpPr>
        <p:spPr>
          <a:xfrm>
            <a:off x="4654295" y="502920"/>
            <a:ext cx="6894576" cy="146304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sym typeface="Work Sans"/>
              </a:rPr>
              <a:t>Los algoritmos de deeplearning son cajas negras. Es imposible saber porque han tomado unas decisiones u otras ni con que datos han sido entrenados.</a:t>
            </a:r>
            <a:endParaRPr lang="en-US" sz="2200"/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290688" y="2290936"/>
            <a:ext cx="9598431" cy="3959352"/>
          </a:xfrm>
          <a:prstGeom prst="rect">
            <a:avLst/>
          </a:prstGeom>
          <a:noFill/>
        </p:spPr>
      </p:pic>
      <p:sp>
        <p:nvSpPr>
          <p:cNvPr id="120" name="Google Shape;120;p20"/>
          <p:cNvSpPr txBox="1"/>
          <p:nvPr/>
        </p:nvSpPr>
        <p:spPr>
          <a:xfrm>
            <a:off x="3048000" y="3224480"/>
            <a:ext cx="6096000" cy="4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lang="es-ES"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0" name="Rectangle 13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Google Shape;130;p21"/>
          <p:cNvSpPr txBox="1"/>
          <p:nvPr/>
        </p:nvSpPr>
        <p:spPr>
          <a:xfrm>
            <a:off x="630936" y="640080"/>
            <a:ext cx="4818888" cy="1481328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buClr>
                <a:schemeClr val="dk1"/>
              </a:buClr>
              <a:buSzPts val="2300"/>
            </a:pPr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Work Sans"/>
              </a:rPr>
              <a:t>¿IA </a:t>
            </a:r>
            <a:r>
              <a:rPr lang="en-US" sz="5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  <a:sym typeface="Work Sans"/>
              </a:rPr>
              <a:t>confiable</a:t>
            </a:r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Work Sans"/>
              </a:rPr>
              <a:t>?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  <a:sym typeface="Work Sans Light"/>
            </a:endParaRPr>
          </a:p>
        </p:txBody>
      </p:sp>
      <p:sp>
        <p:nvSpPr>
          <p:cNvPr id="14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Google Shape;132;p21"/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ym typeface="Work San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500">
                <a:sym typeface="Work Sans"/>
              </a:rPr>
              <a:t>1. Seguridad de Datos </a:t>
            </a:r>
            <a:br>
              <a:rPr lang="en-US" sz="1500">
                <a:sym typeface="Work Sans"/>
              </a:rPr>
            </a:br>
            <a:endParaRPr lang="en-US" sz="1500">
              <a:sym typeface="Work San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500">
                <a:sym typeface="Work Sans"/>
              </a:rPr>
              <a:t>2. Privacidad de Datos </a:t>
            </a:r>
            <a:br>
              <a:rPr lang="en-US" sz="1500">
                <a:sym typeface="Work Sans"/>
              </a:rPr>
            </a:br>
            <a:endParaRPr lang="en-US" sz="1500">
              <a:sym typeface="Work San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500">
                <a:sym typeface="Work Sans"/>
              </a:rPr>
              <a:t>3. Explicabilidad </a:t>
            </a:r>
            <a:br>
              <a:rPr lang="en-US" sz="1500">
                <a:sym typeface="Work Sans"/>
              </a:rPr>
            </a:br>
            <a:endParaRPr lang="en-US" sz="1500">
              <a:sym typeface="Work San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500">
                <a:sym typeface="Work Sans"/>
              </a:rPr>
              <a:t>4. Equidad en la IA Eliminar o reducir el peso de cualquier característica o valor que pueda producir resultados prejuiciosos para una persona o grupo. </a:t>
            </a:r>
            <a:br>
              <a:rPr lang="en-US" sz="1500">
                <a:sym typeface="Work Sans"/>
              </a:rPr>
            </a:br>
            <a:br>
              <a:rPr lang="en-US" sz="1500">
                <a:sym typeface="Work Sans"/>
              </a:rPr>
            </a:br>
            <a:r>
              <a:rPr lang="en-US" sz="1500">
                <a:sym typeface="Work Sans"/>
              </a:rPr>
              <a:t>Por ejemplo, recomendaciones sesgadas por género.</a:t>
            </a:r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099048" y="1777662"/>
            <a:ext cx="5458968" cy="3302675"/>
          </a:xfrm>
          <a:prstGeom prst="rect">
            <a:avLst/>
          </a:prstGeom>
          <a:noFill/>
        </p:spPr>
      </p:pic>
      <p:sp>
        <p:nvSpPr>
          <p:cNvPr id="131" name="Google Shape;131;p21"/>
          <p:cNvSpPr txBox="1"/>
          <p:nvPr/>
        </p:nvSpPr>
        <p:spPr>
          <a:xfrm>
            <a:off x="3048000" y="3224480"/>
            <a:ext cx="6096000" cy="4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lang="es-ES"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5" name="Rectangle 15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Google Shape;140;p22"/>
          <p:cNvSpPr txBox="1"/>
          <p:nvPr/>
        </p:nvSpPr>
        <p:spPr>
          <a:xfrm>
            <a:off x="638881" y="457200"/>
            <a:ext cx="10909640" cy="136861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>
                <a:schemeClr val="dk1"/>
              </a:buClr>
              <a:buSzPts val="2300"/>
            </a:pPr>
            <a:r>
              <a:rPr lang="en-US" sz="6600" b="1">
                <a:latin typeface="+mj-lt"/>
                <a:ea typeface="+mj-ea"/>
                <a:cs typeface="+mj-cs"/>
                <a:sym typeface="Work Sans"/>
              </a:rPr>
              <a:t>¿IA racista?</a:t>
            </a:r>
            <a:endParaRPr lang="en-US" sz="6600">
              <a:latin typeface="+mj-lt"/>
              <a:ea typeface="+mj-ea"/>
              <a:cs typeface="+mj-cs"/>
              <a:sym typeface="Work Sans Light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2133"/>
              </a:spcAft>
              <a:buClr>
                <a:srgbClr val="000000"/>
              </a:buClr>
              <a:buSzPts val="2300"/>
            </a:pPr>
            <a:endParaRPr lang="en-US" sz="6600" b="1">
              <a:latin typeface="+mj-lt"/>
              <a:ea typeface="+mj-ea"/>
              <a:cs typeface="+mj-cs"/>
              <a:sym typeface="Work Sans"/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638881" y="1922561"/>
            <a:ext cx="10909643" cy="55265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ym typeface="Work Sans"/>
              </a:rPr>
              <a:t>Las </a:t>
            </a:r>
            <a:r>
              <a:rPr lang="en-US" sz="2400" b="1">
                <a:sym typeface="Work Sans"/>
              </a:rPr>
              <a:t>IA no son racistas</a:t>
            </a:r>
            <a:r>
              <a:rPr lang="en-US" sz="2400">
                <a:sym typeface="Work Sans"/>
              </a:rPr>
              <a:t> son producto de un proyecto de software fallido</a:t>
            </a:r>
            <a:endParaRPr lang="en-US" sz="2400">
              <a:highlight>
                <a:srgbClr val="B6D7A8"/>
              </a:highlight>
            </a:endParaRPr>
          </a:p>
        </p:txBody>
      </p:sp>
      <p:sp>
        <p:nvSpPr>
          <p:cNvPr id="156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4" name="Google Shape;144;p22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941924" y="2642616"/>
            <a:ext cx="4370647" cy="3605784"/>
          </a:xfrm>
          <a:prstGeom prst="rect">
            <a:avLst/>
          </a:prstGeom>
          <a:noFill/>
        </p:spPr>
      </p:pic>
      <p:pic>
        <p:nvPicPr>
          <p:cNvPr id="145" name="Google Shape;145;p22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254496" y="3575273"/>
            <a:ext cx="5614416" cy="1740469"/>
          </a:xfrm>
          <a:prstGeom prst="rect">
            <a:avLst/>
          </a:prstGeom>
          <a:noFill/>
        </p:spPr>
      </p:pic>
      <p:sp>
        <p:nvSpPr>
          <p:cNvPr id="141" name="Google Shape;141;p22"/>
          <p:cNvSpPr txBox="1"/>
          <p:nvPr/>
        </p:nvSpPr>
        <p:spPr>
          <a:xfrm>
            <a:off x="3048000" y="3224480"/>
            <a:ext cx="6096000" cy="4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lang="es-ES"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1" name="Rectangle 16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Google Shape;151;p23"/>
          <p:cNvSpPr txBox="1"/>
          <p:nvPr/>
        </p:nvSpPr>
        <p:spPr>
          <a:xfrm>
            <a:off x="630936" y="640080"/>
            <a:ext cx="4818888" cy="1481328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buClr>
                <a:schemeClr val="dk1"/>
              </a:buClr>
              <a:buSzPts val="2300"/>
            </a:pPr>
            <a:r>
              <a:rPr lang="en-US" sz="38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Work Sans"/>
              </a:rPr>
              <a:t>IA generativa amplifica el problema</a:t>
            </a:r>
            <a:endParaRPr lang="en-US" sz="3800" kern="1200">
              <a:solidFill>
                <a:schemeClr val="tx1"/>
              </a:solidFill>
              <a:latin typeface="+mj-lt"/>
              <a:ea typeface="+mj-ea"/>
              <a:cs typeface="+mj-cs"/>
              <a:sym typeface="Work Sans Light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2133"/>
              </a:spcAft>
              <a:buClr>
                <a:srgbClr val="000000"/>
              </a:buClr>
              <a:buSzPts val="2300"/>
            </a:pPr>
            <a:endParaRPr lang="en-US" sz="3800" b="1" kern="1200">
              <a:solidFill>
                <a:schemeClr val="tx1"/>
              </a:solidFill>
              <a:latin typeface="+mj-lt"/>
              <a:ea typeface="+mj-ea"/>
              <a:cs typeface="+mj-cs"/>
              <a:sym typeface="Work Sans"/>
            </a:endParaRPr>
          </a:p>
        </p:txBody>
      </p:sp>
      <p:sp>
        <p:nvSpPr>
          <p:cNvPr id="16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Google Shape;155;p23"/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sym typeface="Work Sans"/>
              </a:rPr>
              <a:t>Los modelos fundacionales han sido entrenados con los mismos problemas arrastrados por los anteriores.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>
              <a:sym typeface="Work San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sym typeface="Work Sans"/>
              </a:rPr>
              <a:t>No hay ninguna intención de priorizar el fin de los sesgos en los datos ya que lo importante es sacar nuevos modelos.</a:t>
            </a:r>
          </a:p>
        </p:txBody>
      </p:sp>
      <p:pic>
        <p:nvPicPr>
          <p:cNvPr id="156" name="Google Shape;156;p2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527673" y="640080"/>
            <a:ext cx="4601718" cy="5577840"/>
          </a:xfrm>
          <a:prstGeom prst="rect">
            <a:avLst/>
          </a:prstGeom>
          <a:noFill/>
        </p:spPr>
      </p:pic>
      <p:sp>
        <p:nvSpPr>
          <p:cNvPr id="152" name="Google Shape;152;p23"/>
          <p:cNvSpPr txBox="1"/>
          <p:nvPr/>
        </p:nvSpPr>
        <p:spPr>
          <a:xfrm>
            <a:off x="3048000" y="3224480"/>
            <a:ext cx="6096000" cy="4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lang="es-ES"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0" name="Rectangle 16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Google Shape;161;p24"/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>
                <a:schemeClr val="dk1"/>
              </a:buClr>
              <a:buSzPts val="2300"/>
            </a:pPr>
            <a:r>
              <a:rPr lang="en-US" sz="61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Work Sans"/>
              </a:rPr>
              <a:t>Sesgos (o bias) en los datasets</a:t>
            </a:r>
            <a:endParaRPr lang="en-US" sz="6100" kern="1200">
              <a:solidFill>
                <a:schemeClr val="tx1"/>
              </a:solidFill>
              <a:latin typeface="+mj-lt"/>
              <a:ea typeface="+mj-ea"/>
              <a:cs typeface="+mj-cs"/>
              <a:sym typeface="Work Sans Light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2133"/>
              </a:spcAft>
              <a:buClr>
                <a:srgbClr val="000000"/>
              </a:buClr>
              <a:buSzPts val="2300"/>
            </a:pPr>
            <a:endParaRPr lang="en-US" sz="6100" b="1" kern="1200">
              <a:solidFill>
                <a:schemeClr val="tx1"/>
              </a:solidFill>
              <a:latin typeface="+mj-lt"/>
              <a:ea typeface="+mj-ea"/>
              <a:cs typeface="+mj-cs"/>
              <a:sym typeface="Work Sans"/>
            </a:endParaRPr>
          </a:p>
        </p:txBody>
      </p:sp>
      <p:sp>
        <p:nvSpPr>
          <p:cNvPr id="17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5" name="Google Shape;165;p2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878015" y="2633472"/>
            <a:ext cx="6432921" cy="3586353"/>
          </a:xfrm>
          <a:prstGeom prst="rect">
            <a:avLst/>
          </a:prstGeom>
          <a:noFill/>
        </p:spPr>
      </p:pic>
      <p:sp>
        <p:nvSpPr>
          <p:cNvPr id="162" name="Google Shape;162;p24"/>
          <p:cNvSpPr txBox="1"/>
          <p:nvPr/>
        </p:nvSpPr>
        <p:spPr>
          <a:xfrm>
            <a:off x="3048000" y="3224480"/>
            <a:ext cx="6096000" cy="4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lang="es-ES"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0" name="Rectangle 17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Google Shape;170;p25"/>
          <p:cNvSpPr txBox="1"/>
          <p:nvPr/>
        </p:nvSpPr>
        <p:spPr>
          <a:xfrm>
            <a:off x="630936" y="502920"/>
            <a:ext cx="3419856" cy="146304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buClr>
                <a:schemeClr val="dk1"/>
              </a:buClr>
              <a:buSzPts val="2300"/>
            </a:pPr>
            <a:r>
              <a:rPr lang="en-US" sz="37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Work Sans"/>
              </a:rPr>
              <a:t>Sesgos (o bias) en los datasets</a:t>
            </a:r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  <a:sym typeface="Work Sans Light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2133"/>
              </a:spcAft>
              <a:buClr>
                <a:srgbClr val="000000"/>
              </a:buClr>
              <a:buSzPts val="2300"/>
            </a:pPr>
            <a:endParaRPr lang="en-US" sz="3700" b="1" kern="1200">
              <a:solidFill>
                <a:schemeClr val="tx1"/>
              </a:solidFill>
              <a:latin typeface="+mj-lt"/>
              <a:ea typeface="+mj-ea"/>
              <a:cs typeface="+mj-cs"/>
              <a:sym typeface="Work Sans"/>
            </a:endParaRPr>
          </a:p>
        </p:txBody>
      </p:sp>
      <p:sp>
        <p:nvSpPr>
          <p:cNvPr id="18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Google Shape;175;p25"/>
          <p:cNvSpPr txBox="1"/>
          <p:nvPr/>
        </p:nvSpPr>
        <p:spPr>
          <a:xfrm>
            <a:off x="4654295" y="502920"/>
            <a:ext cx="6894576" cy="146304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500">
                <a:sym typeface="Work Sans"/>
              </a:rPr>
              <a:t>Ciertos elementos de un conjunto de datos están sobreponderados o sobrerrepresentados.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sz="1500">
              <a:sym typeface="Work San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500">
                <a:sym typeface="Work Sans"/>
              </a:rPr>
              <a:t>Los conjuntos de datos sesgados dan lugar a resultados sesgados, prejuicios sistemáticos y poca precisión.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/>
          </a:p>
        </p:txBody>
      </p:sp>
      <p:pic>
        <p:nvPicPr>
          <p:cNvPr id="174" name="Google Shape;174;p2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30936" y="2632921"/>
            <a:ext cx="10917936" cy="3275381"/>
          </a:xfrm>
          <a:prstGeom prst="rect">
            <a:avLst/>
          </a:prstGeom>
          <a:noFill/>
        </p:spPr>
      </p:pic>
      <p:sp>
        <p:nvSpPr>
          <p:cNvPr id="171" name="Google Shape;171;p25"/>
          <p:cNvSpPr txBox="1"/>
          <p:nvPr/>
        </p:nvSpPr>
        <p:spPr>
          <a:xfrm>
            <a:off x="3048000" y="3224480"/>
            <a:ext cx="6096000" cy="4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lang="es-ES"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9" name="Rectangle 18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Google Shape;180;p26"/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>
                <a:schemeClr val="dk1"/>
              </a:buClr>
              <a:buSzPts val="2300"/>
            </a:pPr>
            <a:r>
              <a:rPr lang="en-US" sz="61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Work Sans"/>
              </a:rPr>
              <a:t>Sesgos (o bias) en los datasets</a:t>
            </a:r>
            <a:endParaRPr lang="en-US" sz="6100" kern="1200">
              <a:solidFill>
                <a:schemeClr val="tx1"/>
              </a:solidFill>
              <a:latin typeface="+mj-lt"/>
              <a:ea typeface="+mj-ea"/>
              <a:cs typeface="+mj-cs"/>
              <a:sym typeface="Work Sans Light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2133"/>
              </a:spcAft>
              <a:buClr>
                <a:srgbClr val="000000"/>
              </a:buClr>
              <a:buSzPts val="2300"/>
            </a:pPr>
            <a:endParaRPr lang="en-US" sz="6100" b="1" kern="1200">
              <a:solidFill>
                <a:schemeClr val="tx1"/>
              </a:solidFill>
              <a:latin typeface="+mj-lt"/>
              <a:ea typeface="+mj-ea"/>
              <a:cs typeface="+mj-cs"/>
              <a:sym typeface="Work Sans"/>
            </a:endParaRPr>
          </a:p>
        </p:txBody>
      </p:sp>
      <p:sp>
        <p:nvSpPr>
          <p:cNvPr id="19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4" name="Google Shape;184;p2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453508" y="2633472"/>
            <a:ext cx="7281935" cy="3586353"/>
          </a:xfrm>
          <a:prstGeom prst="rect">
            <a:avLst/>
          </a:prstGeom>
          <a:noFill/>
        </p:spPr>
      </p:pic>
      <p:sp>
        <p:nvSpPr>
          <p:cNvPr id="181" name="Google Shape;181;p26"/>
          <p:cNvSpPr txBox="1"/>
          <p:nvPr/>
        </p:nvSpPr>
        <p:spPr>
          <a:xfrm>
            <a:off x="3048000" y="3224480"/>
            <a:ext cx="6096000" cy="4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lang="es-ES"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8" name="Rectangle 19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Google Shape;189;p27"/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>
                <a:schemeClr val="dk1"/>
              </a:buClr>
              <a:buSzPts val="2300"/>
            </a:pPr>
            <a:r>
              <a:rPr lang="en-US" sz="61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Work Sans"/>
              </a:rPr>
              <a:t>Sesgos (o bias) en los datasets</a:t>
            </a:r>
            <a:endParaRPr lang="en-US" sz="6100" kern="1200">
              <a:solidFill>
                <a:schemeClr val="tx1"/>
              </a:solidFill>
              <a:latin typeface="+mj-lt"/>
              <a:ea typeface="+mj-ea"/>
              <a:cs typeface="+mj-cs"/>
              <a:sym typeface="Work Sans Light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2133"/>
              </a:spcAft>
              <a:buClr>
                <a:srgbClr val="000000"/>
              </a:buClr>
              <a:buSzPts val="2300"/>
            </a:pPr>
            <a:endParaRPr lang="en-US" sz="6100" b="1" kern="1200">
              <a:solidFill>
                <a:schemeClr val="tx1"/>
              </a:solidFill>
              <a:latin typeface="+mj-lt"/>
              <a:ea typeface="+mj-ea"/>
              <a:cs typeface="+mj-cs"/>
              <a:sym typeface="Work Sans"/>
            </a:endParaRPr>
          </a:p>
        </p:txBody>
      </p:sp>
      <p:sp>
        <p:nvSpPr>
          <p:cNvPr id="20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3" name="Google Shape;193;p2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453508" y="2633472"/>
            <a:ext cx="7281935" cy="3586353"/>
          </a:xfrm>
          <a:prstGeom prst="rect">
            <a:avLst/>
          </a:prstGeom>
          <a:noFill/>
        </p:spPr>
      </p:pic>
      <p:sp>
        <p:nvSpPr>
          <p:cNvPr id="190" name="Google Shape;190;p27"/>
          <p:cNvSpPr txBox="1"/>
          <p:nvPr/>
        </p:nvSpPr>
        <p:spPr>
          <a:xfrm>
            <a:off x="3048000" y="3224480"/>
            <a:ext cx="6096000" cy="4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lang="es-ES"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" name="Rectangle 206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Google Shape;198;p28"/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>
                <a:schemeClr val="dk1"/>
              </a:buClr>
              <a:buSzPts val="2300"/>
            </a:pPr>
            <a:r>
              <a:rPr lang="en-US" sz="61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Work Sans"/>
              </a:rPr>
              <a:t>Sesgos (o bias) en los datasets</a:t>
            </a:r>
            <a:endParaRPr lang="en-US" sz="6100" kern="1200">
              <a:solidFill>
                <a:schemeClr val="tx1"/>
              </a:solidFill>
              <a:latin typeface="+mj-lt"/>
              <a:ea typeface="+mj-ea"/>
              <a:cs typeface="+mj-cs"/>
              <a:sym typeface="Work Sans Light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2133"/>
              </a:spcAft>
              <a:buClr>
                <a:srgbClr val="000000"/>
              </a:buClr>
              <a:buSzPts val="2300"/>
            </a:pPr>
            <a:endParaRPr lang="en-US" sz="6100" b="1" kern="1200">
              <a:solidFill>
                <a:schemeClr val="tx1"/>
              </a:solidFill>
              <a:latin typeface="+mj-lt"/>
              <a:ea typeface="+mj-ea"/>
              <a:cs typeface="+mj-cs"/>
              <a:sym typeface="Work Sans"/>
            </a:endParaRPr>
          </a:p>
        </p:txBody>
      </p:sp>
      <p:sp>
        <p:nvSpPr>
          <p:cNvPr id="209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2" name="Google Shape;202;p2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453508" y="2633472"/>
            <a:ext cx="7281935" cy="3586353"/>
          </a:xfrm>
          <a:prstGeom prst="rect">
            <a:avLst/>
          </a:prstGeom>
          <a:noFill/>
        </p:spPr>
      </p:pic>
      <p:sp>
        <p:nvSpPr>
          <p:cNvPr id="199" name="Google Shape;199;p28"/>
          <p:cNvSpPr txBox="1"/>
          <p:nvPr/>
        </p:nvSpPr>
        <p:spPr>
          <a:xfrm>
            <a:off x="3048000" y="3224480"/>
            <a:ext cx="6096000" cy="4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lang="es-ES"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6" name="Rectangle 215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Google Shape;207;p29"/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>
                <a:schemeClr val="dk1"/>
              </a:buClr>
              <a:buSzPts val="2300"/>
            </a:pPr>
            <a:r>
              <a:rPr lang="en-US" sz="61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Work Sans"/>
              </a:rPr>
              <a:t>Sesgos (o bias) en los datasets</a:t>
            </a:r>
            <a:endParaRPr lang="en-US" sz="6100" kern="1200">
              <a:solidFill>
                <a:schemeClr val="tx1"/>
              </a:solidFill>
              <a:latin typeface="+mj-lt"/>
              <a:ea typeface="+mj-ea"/>
              <a:cs typeface="+mj-cs"/>
              <a:sym typeface="Work Sans Light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2133"/>
              </a:spcAft>
              <a:buClr>
                <a:srgbClr val="000000"/>
              </a:buClr>
              <a:buSzPts val="2300"/>
            </a:pPr>
            <a:endParaRPr lang="en-US" sz="6100" b="1" kern="1200">
              <a:solidFill>
                <a:schemeClr val="tx1"/>
              </a:solidFill>
              <a:latin typeface="+mj-lt"/>
              <a:ea typeface="+mj-ea"/>
              <a:cs typeface="+mj-cs"/>
              <a:sym typeface="Work Sans"/>
            </a:endParaRPr>
          </a:p>
        </p:txBody>
      </p:sp>
      <p:sp>
        <p:nvSpPr>
          <p:cNvPr id="21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1" name="Google Shape;211;p2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453508" y="2633472"/>
            <a:ext cx="7281935" cy="3586353"/>
          </a:xfrm>
          <a:prstGeom prst="rect">
            <a:avLst/>
          </a:prstGeom>
          <a:noFill/>
        </p:spPr>
      </p:pic>
      <p:sp>
        <p:nvSpPr>
          <p:cNvPr id="208" name="Google Shape;208;p29"/>
          <p:cNvSpPr txBox="1"/>
          <p:nvPr/>
        </p:nvSpPr>
        <p:spPr>
          <a:xfrm>
            <a:off x="3048000" y="3224480"/>
            <a:ext cx="6096000" cy="4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lang="es-ES"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06">
          <a:extLst>
            <a:ext uri="{FF2B5EF4-FFF2-40B4-BE49-F238E27FC236}">
              <a16:creationId xmlns:a16="http://schemas.microsoft.com/office/drawing/2014/main" id="{BF5CD24B-7A2A-B451-48A1-1EA469FCA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4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16" name="Rectangle 215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Google Shape;207;p29">
            <a:extLst>
              <a:ext uri="{FF2B5EF4-FFF2-40B4-BE49-F238E27FC236}">
                <a16:creationId xmlns:a16="http://schemas.microsoft.com/office/drawing/2014/main" id="{620EBC10-2C87-8A29-9D9F-F4EAD5F716B1}"/>
              </a:ext>
            </a:extLst>
          </p:cNvPr>
          <p:cNvSpPr txBox="1"/>
          <p:nvPr/>
        </p:nvSpPr>
        <p:spPr>
          <a:xfrm>
            <a:off x="761803" y="350196"/>
            <a:ext cx="4646904" cy="162452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buClr>
                <a:schemeClr val="dk1"/>
              </a:buClr>
              <a:buSzPts val="2300"/>
            </a:pPr>
            <a:r>
              <a:rPr lang="en-US" sz="4000" b="1">
                <a:latin typeface="+mj-lt"/>
                <a:ea typeface="+mj-ea"/>
                <a:cs typeface="+mj-cs"/>
                <a:sym typeface="Work Sans"/>
              </a:rPr>
              <a:t>Sesgos (o bias) en los datasets</a:t>
            </a:r>
            <a:endParaRPr lang="en-US" sz="4000">
              <a:latin typeface="+mj-lt"/>
              <a:ea typeface="+mj-ea"/>
              <a:cs typeface="+mj-cs"/>
              <a:sym typeface="Work Sans Light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2133"/>
              </a:spcAft>
              <a:buClr>
                <a:srgbClr val="000000"/>
              </a:buClr>
              <a:buSzPts val="2300"/>
            </a:pPr>
            <a:endParaRPr lang="en-US" sz="4000" b="1">
              <a:latin typeface="+mj-lt"/>
              <a:ea typeface="+mj-ea"/>
              <a:cs typeface="+mj-cs"/>
              <a:sym typeface="Work Sans"/>
            </a:endParaRPr>
          </a:p>
        </p:txBody>
      </p:sp>
      <p:sp>
        <p:nvSpPr>
          <p:cNvPr id="3" name="Google Shape;207;p29">
            <a:extLst>
              <a:ext uri="{FF2B5EF4-FFF2-40B4-BE49-F238E27FC236}">
                <a16:creationId xmlns:a16="http://schemas.microsoft.com/office/drawing/2014/main" id="{A340EFB0-DD80-FA72-20FB-E5468F436E30}"/>
              </a:ext>
            </a:extLst>
          </p:cNvPr>
          <p:cNvSpPr txBox="1"/>
          <p:nvPr/>
        </p:nvSpPr>
        <p:spPr>
          <a:xfrm>
            <a:off x="761802" y="2743200"/>
            <a:ext cx="4646905" cy="361314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indent="-228600">
              <a:lnSpc>
                <a:spcPct val="90000"/>
              </a:lnSpc>
              <a:buClr>
                <a:schemeClr val="dk1"/>
              </a:buClr>
              <a:buSzPts val="2300"/>
              <a:buFont typeface="Arial" panose="020B0604020202020204" pitchFamily="34" charset="0"/>
              <a:buChar char="•"/>
            </a:pPr>
            <a:r>
              <a:rPr lang="en-US" sz="2800" u="sng" dirty="0" err="1">
                <a:sym typeface="Work Sans"/>
              </a:rPr>
              <a:t>Corrección</a:t>
            </a:r>
            <a:r>
              <a:rPr lang="en-US" sz="2800" u="sng" dirty="0">
                <a:sym typeface="Work Sans"/>
              </a:rPr>
              <a:t> </a:t>
            </a:r>
            <a:r>
              <a:rPr lang="en-US" sz="2800" u="sng" dirty="0" err="1">
                <a:sym typeface="Work Sans"/>
              </a:rPr>
              <a:t>automatizada</a:t>
            </a:r>
            <a:endParaRPr lang="en-US" sz="2800" u="sng" dirty="0">
              <a:sym typeface="Work Sans"/>
            </a:endParaRPr>
          </a:p>
          <a:p>
            <a:pPr>
              <a:lnSpc>
                <a:spcPct val="90000"/>
              </a:lnSpc>
              <a:buClr>
                <a:schemeClr val="dk1"/>
              </a:buClr>
              <a:buSzPts val="2300"/>
            </a:pPr>
            <a:endParaRPr lang="en-US" sz="2000" u="sng" dirty="0">
              <a:sym typeface="Work Sans"/>
            </a:endParaRPr>
          </a:p>
          <a:p>
            <a:pPr algn="ctr">
              <a:lnSpc>
                <a:spcPct val="90000"/>
              </a:lnSpc>
              <a:buClr>
                <a:schemeClr val="dk1"/>
              </a:buClr>
              <a:buSzPts val="2300"/>
            </a:pPr>
            <a:r>
              <a:rPr lang="en-US" sz="2000" dirty="0">
                <a:sym typeface="Work Sans"/>
              </a:rPr>
              <a:t>Español de España</a:t>
            </a:r>
          </a:p>
          <a:p>
            <a:pPr algn="ctr">
              <a:lnSpc>
                <a:spcPct val="90000"/>
              </a:lnSpc>
              <a:buClr>
                <a:schemeClr val="dk1"/>
              </a:buClr>
              <a:buSzPts val="2300"/>
            </a:pPr>
            <a:r>
              <a:rPr lang="en-US" sz="2000" b="1" dirty="0">
                <a:sym typeface="Work Sans"/>
              </a:rPr>
              <a:t>Vs</a:t>
            </a:r>
            <a:r>
              <a:rPr lang="en-US" sz="2000" dirty="0">
                <a:sym typeface="Work Sans"/>
              </a:rPr>
              <a:t> </a:t>
            </a:r>
          </a:p>
          <a:p>
            <a:pPr algn="ctr">
              <a:lnSpc>
                <a:spcPct val="90000"/>
              </a:lnSpc>
              <a:buClr>
                <a:schemeClr val="dk1"/>
              </a:buClr>
              <a:buSzPts val="2300"/>
            </a:pPr>
            <a:r>
              <a:rPr lang="en-US" sz="2000" dirty="0">
                <a:sym typeface="Work Sans"/>
              </a:rPr>
              <a:t>Español de </a:t>
            </a:r>
            <a:r>
              <a:rPr lang="en-US" sz="2000" dirty="0" err="1">
                <a:sym typeface="Work Sans"/>
              </a:rPr>
              <a:t>Latinoamérica</a:t>
            </a:r>
            <a:r>
              <a:rPr lang="en-US" sz="2000" dirty="0">
                <a:sym typeface="Work Sans"/>
              </a:rPr>
              <a:t> </a:t>
            </a:r>
            <a:endParaRPr lang="en-US" sz="2000" dirty="0">
              <a:sym typeface="Work Sans Light"/>
            </a:endParaRPr>
          </a:p>
          <a:p>
            <a:pPr indent="-228600">
              <a:lnSpc>
                <a:spcPct val="90000"/>
              </a:lnSpc>
              <a:buClr>
                <a:schemeClr val="dk1"/>
              </a:buClr>
              <a:buSzPts val="2300"/>
              <a:buFont typeface="Arial" panose="020B0604020202020204" pitchFamily="34" charset="0"/>
              <a:buChar char="•"/>
            </a:pPr>
            <a:endParaRPr lang="en-US" sz="2000" dirty="0">
              <a:sym typeface="Work Sans Light"/>
            </a:endParaRPr>
          </a:p>
          <a:p>
            <a:pPr indent="-228600">
              <a:lnSpc>
                <a:spcPct val="90000"/>
              </a:lnSpc>
              <a:buClr>
                <a:schemeClr val="dk1"/>
              </a:buClr>
              <a:buSzPts val="2300"/>
              <a:buFont typeface="Arial" panose="020B0604020202020204" pitchFamily="34" charset="0"/>
              <a:buChar char="•"/>
            </a:pPr>
            <a:endParaRPr lang="en-US" sz="2000" u="sng" dirty="0">
              <a:sym typeface="Work Sans Light"/>
            </a:endParaRPr>
          </a:p>
          <a:p>
            <a:pPr indent="-228600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2300"/>
              <a:buFont typeface="Arial" panose="020B0604020202020204" pitchFamily="34" charset="0"/>
              <a:buChar char="•"/>
            </a:pPr>
            <a:endParaRPr lang="en-US" sz="2000" b="1" dirty="0">
              <a:sym typeface="Work Sans"/>
            </a:endParaRPr>
          </a:p>
        </p:txBody>
      </p:sp>
      <p:pic>
        <p:nvPicPr>
          <p:cNvPr id="210" name="Picture 209" descr="Números de la bolsa de valores">
            <a:extLst>
              <a:ext uri="{FF2B5EF4-FFF2-40B4-BE49-F238E27FC236}">
                <a16:creationId xmlns:a16="http://schemas.microsoft.com/office/drawing/2014/main" id="{2F8FED01-36FC-6280-F0C0-A4E19F341C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040" r="19559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208" name="Google Shape;208;p29">
            <a:extLst>
              <a:ext uri="{FF2B5EF4-FFF2-40B4-BE49-F238E27FC236}">
                <a16:creationId xmlns:a16="http://schemas.microsoft.com/office/drawing/2014/main" id="{5B772F8F-08CA-CCB2-9952-55297E05E778}"/>
              </a:ext>
            </a:extLst>
          </p:cNvPr>
          <p:cNvSpPr txBox="1"/>
          <p:nvPr/>
        </p:nvSpPr>
        <p:spPr>
          <a:xfrm>
            <a:off x="3048000" y="3224480"/>
            <a:ext cx="6096000" cy="4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lang="es-ES"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207;p29">
            <a:extLst>
              <a:ext uri="{FF2B5EF4-FFF2-40B4-BE49-F238E27FC236}">
                <a16:creationId xmlns:a16="http://schemas.microsoft.com/office/drawing/2014/main" id="{54941A24-D4CD-431A-D987-5CBF4B7D3923}"/>
              </a:ext>
            </a:extLst>
          </p:cNvPr>
          <p:cNvSpPr txBox="1"/>
          <p:nvPr/>
        </p:nvSpPr>
        <p:spPr>
          <a:xfrm>
            <a:off x="1232628" y="3736744"/>
            <a:ext cx="3383472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2300"/>
            </a:pPr>
            <a:endParaRPr sz="3067" b="1" dirty="0">
              <a:solidFill>
                <a:srgbClr val="2DC5FA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" name="Google Shape;207;p29">
            <a:extLst>
              <a:ext uri="{FF2B5EF4-FFF2-40B4-BE49-F238E27FC236}">
                <a16:creationId xmlns:a16="http://schemas.microsoft.com/office/drawing/2014/main" id="{A961DDE1-2F92-88D8-EF18-DC99DA211891}"/>
              </a:ext>
            </a:extLst>
          </p:cNvPr>
          <p:cNvSpPr txBox="1"/>
          <p:nvPr/>
        </p:nvSpPr>
        <p:spPr>
          <a:xfrm>
            <a:off x="6901011" y="3736744"/>
            <a:ext cx="43956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2300"/>
            </a:pPr>
            <a:endParaRPr sz="3067" b="1" dirty="0">
              <a:solidFill>
                <a:srgbClr val="2DC5FA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" name="Google Shape;207;p29">
            <a:extLst>
              <a:ext uri="{FF2B5EF4-FFF2-40B4-BE49-F238E27FC236}">
                <a16:creationId xmlns:a16="http://schemas.microsoft.com/office/drawing/2014/main" id="{9DACCBEF-4A80-E876-999A-B79A6E824521}"/>
              </a:ext>
            </a:extLst>
          </p:cNvPr>
          <p:cNvSpPr txBox="1"/>
          <p:nvPr/>
        </p:nvSpPr>
        <p:spPr>
          <a:xfrm>
            <a:off x="5484702" y="3736744"/>
            <a:ext cx="765396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1"/>
              </a:buClr>
              <a:buSzPts val="2300"/>
            </a:pPr>
            <a:endParaRPr sz="2500" dirty="0"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2300"/>
            </a:pPr>
            <a:endParaRPr sz="3067" b="1" dirty="0">
              <a:solidFill>
                <a:srgbClr val="2DC5FA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  <p:extLst>
      <p:ext uri="{BB962C8B-B14F-4D97-AF65-F5344CB8AC3E}">
        <p14:creationId xmlns:p14="http://schemas.microsoft.com/office/powerpoint/2010/main" val="3621723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5" name="Rectangle 224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Google Shape;216;p30"/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>
                <a:schemeClr val="dk1"/>
              </a:buClr>
              <a:buSzPts val="2300"/>
            </a:pPr>
            <a:r>
              <a:rPr lang="en-US" sz="61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Work Sans"/>
              </a:rPr>
              <a:t>Sesgos (o bias) en los datasets</a:t>
            </a:r>
            <a:endParaRPr lang="en-US" sz="6100" kern="1200">
              <a:solidFill>
                <a:schemeClr val="tx1"/>
              </a:solidFill>
              <a:latin typeface="+mj-lt"/>
              <a:ea typeface="+mj-ea"/>
              <a:cs typeface="+mj-cs"/>
              <a:sym typeface="Work Sans Light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2133"/>
              </a:spcAft>
              <a:buClr>
                <a:srgbClr val="000000"/>
              </a:buClr>
              <a:buSzPts val="2300"/>
            </a:pPr>
            <a:endParaRPr lang="en-US" sz="6100" b="1" kern="1200">
              <a:solidFill>
                <a:schemeClr val="tx1"/>
              </a:solidFill>
              <a:latin typeface="+mj-lt"/>
              <a:ea typeface="+mj-ea"/>
              <a:cs typeface="+mj-cs"/>
              <a:sym typeface="Work Sans"/>
            </a:endParaRPr>
          </a:p>
        </p:txBody>
      </p:sp>
      <p:sp>
        <p:nvSpPr>
          <p:cNvPr id="227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0" name="Google Shape;220;p3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453508" y="2633472"/>
            <a:ext cx="7281935" cy="3586353"/>
          </a:xfrm>
          <a:prstGeom prst="rect">
            <a:avLst/>
          </a:prstGeom>
          <a:noFill/>
        </p:spPr>
      </p:pic>
      <p:sp>
        <p:nvSpPr>
          <p:cNvPr id="217" name="Google Shape;217;p30"/>
          <p:cNvSpPr txBox="1"/>
          <p:nvPr/>
        </p:nvSpPr>
        <p:spPr>
          <a:xfrm>
            <a:off x="3048000" y="3224480"/>
            <a:ext cx="6096000" cy="4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lang="es-ES"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9" name="Rectangle 234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5" name="Google Shape;225;p31"/>
          <p:cNvSpPr txBox="1"/>
          <p:nvPr/>
        </p:nvSpPr>
        <p:spPr>
          <a:xfrm>
            <a:off x="630936" y="457200"/>
            <a:ext cx="4343400" cy="192938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buClr>
                <a:schemeClr val="dk1"/>
              </a:buClr>
              <a:buSzPts val="2300"/>
            </a:pPr>
            <a:r>
              <a:rPr lang="en-US" sz="4800" b="1">
                <a:latin typeface="+mj-lt"/>
                <a:ea typeface="+mj-ea"/>
                <a:cs typeface="+mj-cs"/>
                <a:sym typeface="Work Sans"/>
              </a:rPr>
              <a:t>Sesgos (o bias) en los datasets</a:t>
            </a:r>
            <a:endParaRPr lang="en-US" sz="4800">
              <a:latin typeface="+mj-lt"/>
              <a:ea typeface="+mj-ea"/>
              <a:cs typeface="+mj-cs"/>
              <a:sym typeface="Work Sans Light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2133"/>
              </a:spcAft>
              <a:buClr>
                <a:srgbClr val="000000"/>
              </a:buClr>
              <a:buSzPts val="2300"/>
            </a:pPr>
            <a:endParaRPr lang="en-US" sz="4800" b="1">
              <a:latin typeface="+mj-lt"/>
              <a:ea typeface="+mj-ea"/>
              <a:cs typeface="+mj-cs"/>
              <a:sym typeface="Work Sans"/>
            </a:endParaRPr>
          </a:p>
        </p:txBody>
      </p:sp>
      <p:sp>
        <p:nvSpPr>
          <p:cNvPr id="240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Google Shape;230;p31"/>
          <p:cNvSpPr txBox="1"/>
          <p:nvPr/>
        </p:nvSpPr>
        <p:spPr>
          <a:xfrm>
            <a:off x="5541263" y="457200"/>
            <a:ext cx="6007608" cy="192938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400">
                <a:sym typeface="Work Sans"/>
              </a:rPr>
              <a:t>En algunos dominios las consecuencias de un dataset mal construido puede ser dramático.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sz="1400"/>
          </a:p>
          <a:p>
            <a:pPr marL="609585" indent="-228600"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400"/>
              <a:t>Auto Driving</a:t>
            </a:r>
          </a:p>
          <a:p>
            <a:pPr marL="609585" indent="-228600"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400"/>
              <a:t>Medicina</a:t>
            </a:r>
          </a:p>
          <a:p>
            <a:pPr marL="609585" indent="-228600"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400"/>
              <a:t>Banca</a:t>
            </a:r>
          </a:p>
          <a:p>
            <a:pPr marL="609585" indent="-228600"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400"/>
              <a:t>Militar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</p:txBody>
      </p:sp>
      <p:pic>
        <p:nvPicPr>
          <p:cNvPr id="229" name="Google Shape;229;p3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42108" y="2569464"/>
            <a:ext cx="4716584" cy="3678936"/>
          </a:xfrm>
          <a:prstGeom prst="rect">
            <a:avLst/>
          </a:prstGeom>
          <a:noFill/>
        </p:spPr>
      </p:pic>
      <p:pic>
        <p:nvPicPr>
          <p:cNvPr id="228" name="Google Shape;228;p3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283452" y="2569464"/>
            <a:ext cx="5410199" cy="36789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6" name="Rectangle 245">
            <a:extLst>
              <a:ext uri="{FF2B5EF4-FFF2-40B4-BE49-F238E27FC236}">
                <a16:creationId xmlns:a16="http://schemas.microsoft.com/office/drawing/2014/main" id="{F83B1BEA-1159-4AE5-AD9B-9440E5189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Google Shape;235;p32"/>
          <p:cNvSpPr txBox="1"/>
          <p:nvPr/>
        </p:nvSpPr>
        <p:spPr>
          <a:xfrm>
            <a:off x="630936" y="381000"/>
            <a:ext cx="3419856" cy="200305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buClr>
                <a:schemeClr val="dk1"/>
              </a:buClr>
              <a:buSzPts val="2300"/>
            </a:pPr>
            <a:r>
              <a:rPr lang="en-US" sz="34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Work Sans"/>
              </a:rPr>
              <a:t>Sesgos son inherentes al lenguaje humano</a:t>
            </a:r>
            <a:endParaRPr lang="en-US" sz="3400" kern="1200">
              <a:solidFill>
                <a:schemeClr val="tx1"/>
              </a:solidFill>
              <a:latin typeface="+mj-lt"/>
              <a:ea typeface="+mj-ea"/>
              <a:cs typeface="+mj-cs"/>
              <a:sym typeface="Work Sans Light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2133"/>
              </a:spcAft>
              <a:buClr>
                <a:srgbClr val="000000"/>
              </a:buClr>
              <a:buSzPts val="2300"/>
            </a:pPr>
            <a:endParaRPr lang="en-US" sz="3400" b="1" kern="1200">
              <a:solidFill>
                <a:schemeClr val="tx1"/>
              </a:solidFill>
              <a:latin typeface="+mj-lt"/>
              <a:ea typeface="+mj-ea"/>
              <a:cs typeface="+mj-cs"/>
              <a:sym typeface="Work Sans"/>
            </a:endParaRPr>
          </a:p>
        </p:txBody>
      </p:sp>
      <p:sp>
        <p:nvSpPr>
          <p:cNvPr id="248" name="sketch line">
            <a:extLst>
              <a:ext uri="{FF2B5EF4-FFF2-40B4-BE49-F238E27FC236}">
                <a16:creationId xmlns:a16="http://schemas.microsoft.com/office/drawing/2014/main" id="{5D50C310-510F-45B8-81D2-BE905D5C6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570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Google Shape;240;p32"/>
          <p:cNvSpPr txBox="1"/>
          <p:nvPr/>
        </p:nvSpPr>
        <p:spPr>
          <a:xfrm>
            <a:off x="4654295" y="381000"/>
            <a:ext cx="6894576" cy="200305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sym typeface="Work Sans"/>
              </a:rPr>
              <a:t>Estas sandías amarillas o sandía melón, Graciosa o Melchora, llamada por algunos, se cultiva de aquí al lado, en la zona de Salamanca.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>
              <a:sym typeface="Work San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sym typeface="Work Sans"/>
              </a:rPr>
              <a:t>Habitualmente nunca etiquetaríamos: “Sandía Roja”</a:t>
            </a:r>
          </a:p>
        </p:txBody>
      </p:sp>
      <p:pic>
        <p:nvPicPr>
          <p:cNvPr id="239" name="Google Shape;239;p32"/>
          <p:cNvPicPr preferRelativeResize="0"/>
          <p:nvPr/>
        </p:nvPicPr>
        <p:blipFill>
          <a:blip r:embed="rId3"/>
          <a:srcRect r="2868" b="-2"/>
          <a:stretch>
            <a:fillRect/>
          </a:stretch>
        </p:blipFill>
        <p:spPr>
          <a:xfrm>
            <a:off x="8" y="2668687"/>
            <a:ext cx="6095992" cy="4189309"/>
          </a:xfrm>
          <a:custGeom>
            <a:avLst/>
            <a:gdLst/>
            <a:ahLst/>
            <a:cxnLst/>
            <a:rect l="l" t="t" r="r" b="b"/>
            <a:pathLst>
              <a:path w="6005375" h="4189309">
                <a:moveTo>
                  <a:pt x="5422311" y="873"/>
                </a:moveTo>
                <a:cubicBezTo>
                  <a:pt x="5467738" y="-1249"/>
                  <a:pt x="5513346" y="499"/>
                  <a:pt x="5558643" y="6137"/>
                </a:cubicBezTo>
                <a:cubicBezTo>
                  <a:pt x="5633356" y="13367"/>
                  <a:pt x="5708323" y="18441"/>
                  <a:pt x="5783036" y="26052"/>
                </a:cubicBezTo>
                <a:cubicBezTo>
                  <a:pt x="5816269" y="29477"/>
                  <a:pt x="5849884" y="16792"/>
                  <a:pt x="5882612" y="28462"/>
                </a:cubicBezTo>
                <a:cubicBezTo>
                  <a:pt x="5909726" y="38166"/>
                  <a:pt x="5937089" y="43856"/>
                  <a:pt x="5964555" y="46416"/>
                </a:cubicBezTo>
                <a:lnTo>
                  <a:pt x="5997178" y="46088"/>
                </a:lnTo>
                <a:lnTo>
                  <a:pt x="5995170" y="275470"/>
                </a:lnTo>
                <a:cubicBezTo>
                  <a:pt x="5993432" y="411056"/>
                  <a:pt x="5993035" y="546624"/>
                  <a:pt x="5999656" y="682159"/>
                </a:cubicBezTo>
                <a:cubicBezTo>
                  <a:pt x="6009854" y="891918"/>
                  <a:pt x="6003364" y="1101545"/>
                  <a:pt x="5999656" y="1311172"/>
                </a:cubicBezTo>
                <a:cubicBezTo>
                  <a:pt x="5992506" y="1713210"/>
                  <a:pt x="6003364" y="2114718"/>
                  <a:pt x="5998730" y="2516227"/>
                </a:cubicBezTo>
                <a:cubicBezTo>
                  <a:pt x="5996744" y="2694204"/>
                  <a:pt x="5998994" y="2871916"/>
                  <a:pt x="6003364" y="3049893"/>
                </a:cubicBezTo>
                <a:cubicBezTo>
                  <a:pt x="6009720" y="3304015"/>
                  <a:pt x="5999922" y="3558268"/>
                  <a:pt x="5989196" y="3812257"/>
                </a:cubicBezTo>
                <a:cubicBezTo>
                  <a:pt x="5985594" y="3882097"/>
                  <a:pt x="5984646" y="3952020"/>
                  <a:pt x="5986348" y="4021878"/>
                </a:cubicBezTo>
                <a:lnTo>
                  <a:pt x="5996786" y="4189309"/>
                </a:lnTo>
                <a:lnTo>
                  <a:pt x="0" y="4189309"/>
                </a:lnTo>
                <a:lnTo>
                  <a:pt x="0" y="27247"/>
                </a:lnTo>
                <a:lnTo>
                  <a:pt x="495" y="27408"/>
                </a:lnTo>
                <a:cubicBezTo>
                  <a:pt x="5176" y="27551"/>
                  <a:pt x="10686" y="26465"/>
                  <a:pt x="17314" y="23896"/>
                </a:cubicBezTo>
                <a:cubicBezTo>
                  <a:pt x="33823" y="19050"/>
                  <a:pt x="50862" y="16234"/>
                  <a:pt x="68053" y="15524"/>
                </a:cubicBezTo>
                <a:cubicBezTo>
                  <a:pt x="200481" y="-1093"/>
                  <a:pt x="333037" y="3346"/>
                  <a:pt x="466100" y="8801"/>
                </a:cubicBezTo>
                <a:cubicBezTo>
                  <a:pt x="697850" y="18187"/>
                  <a:pt x="929854" y="29096"/>
                  <a:pt x="1161985" y="25798"/>
                </a:cubicBezTo>
                <a:cubicBezTo>
                  <a:pt x="1397540" y="22373"/>
                  <a:pt x="1632588" y="29604"/>
                  <a:pt x="1867890" y="39117"/>
                </a:cubicBezTo>
                <a:cubicBezTo>
                  <a:pt x="1971017" y="43050"/>
                  <a:pt x="2074779" y="46982"/>
                  <a:pt x="2176256" y="17680"/>
                </a:cubicBezTo>
                <a:cubicBezTo>
                  <a:pt x="2199190" y="12314"/>
                  <a:pt x="2223101" y="12834"/>
                  <a:pt x="2245769" y="19202"/>
                </a:cubicBezTo>
                <a:cubicBezTo>
                  <a:pt x="2359678" y="45713"/>
                  <a:pt x="2474221" y="53578"/>
                  <a:pt x="2589398" y="27447"/>
                </a:cubicBezTo>
                <a:cubicBezTo>
                  <a:pt x="2721802" y="-1220"/>
                  <a:pt x="2858087" y="-7347"/>
                  <a:pt x="2992519" y="9308"/>
                </a:cubicBezTo>
                <a:cubicBezTo>
                  <a:pt x="3115435" y="23008"/>
                  <a:pt x="3238984" y="37849"/>
                  <a:pt x="3362153" y="26813"/>
                </a:cubicBezTo>
                <a:cubicBezTo>
                  <a:pt x="3556737" y="9308"/>
                  <a:pt x="3751067" y="24530"/>
                  <a:pt x="3945651" y="29223"/>
                </a:cubicBezTo>
                <a:cubicBezTo>
                  <a:pt x="4010343" y="30745"/>
                  <a:pt x="4075416" y="44064"/>
                  <a:pt x="4139727" y="32141"/>
                </a:cubicBezTo>
                <a:cubicBezTo>
                  <a:pt x="4241079" y="13367"/>
                  <a:pt x="4341288" y="20597"/>
                  <a:pt x="4442766" y="31126"/>
                </a:cubicBezTo>
                <a:cubicBezTo>
                  <a:pt x="4637096" y="51422"/>
                  <a:pt x="4831299" y="61189"/>
                  <a:pt x="5024742" y="23134"/>
                </a:cubicBezTo>
                <a:cubicBezTo>
                  <a:pt x="5084742" y="11211"/>
                  <a:pt x="5144359" y="4361"/>
                  <a:pt x="5205373" y="20344"/>
                </a:cubicBezTo>
                <a:cubicBezTo>
                  <a:pt x="5232315" y="26496"/>
                  <a:pt x="5260361" y="25976"/>
                  <a:pt x="5287062" y="18822"/>
                </a:cubicBezTo>
                <a:cubicBezTo>
                  <a:pt x="5331637" y="8985"/>
                  <a:pt x="5376883" y="2995"/>
                  <a:pt x="5422311" y="873"/>
                </a:cubicBezTo>
                <a:close/>
              </a:path>
            </a:pathLst>
          </a:custGeom>
          <a:noFill/>
        </p:spPr>
      </p:pic>
      <p:pic>
        <p:nvPicPr>
          <p:cNvPr id="241" name="Google Shape;241;p32"/>
          <p:cNvPicPr preferRelativeResize="0"/>
          <p:nvPr/>
        </p:nvPicPr>
        <p:blipFill>
          <a:blip r:embed="rId4"/>
          <a:srcRect l="1335" r="575" b="1"/>
          <a:stretch>
            <a:fillRect/>
          </a:stretch>
        </p:blipFill>
        <p:spPr>
          <a:xfrm flipH="1">
            <a:off x="6019800" y="2657872"/>
            <a:ext cx="6172193" cy="4200116"/>
          </a:xfrm>
          <a:custGeom>
            <a:avLst/>
            <a:gdLst/>
            <a:ahLst/>
            <a:cxnLst/>
            <a:rect l="l" t="t" r="r" b="b"/>
            <a:pathLst>
              <a:path w="6006950" h="4200116">
                <a:moveTo>
                  <a:pt x="1035902" y="878"/>
                </a:moveTo>
                <a:cubicBezTo>
                  <a:pt x="1135908" y="5076"/>
                  <a:pt x="1234824" y="23223"/>
                  <a:pt x="1334526" y="31024"/>
                </a:cubicBezTo>
                <a:cubicBezTo>
                  <a:pt x="1429408" y="38508"/>
                  <a:pt x="1524290" y="49417"/>
                  <a:pt x="1619679" y="34449"/>
                </a:cubicBezTo>
                <a:cubicBezTo>
                  <a:pt x="1713242" y="21726"/>
                  <a:pt x="1807870" y="18745"/>
                  <a:pt x="1902041" y="25570"/>
                </a:cubicBezTo>
                <a:cubicBezTo>
                  <a:pt x="2006183" y="30770"/>
                  <a:pt x="2110071" y="48021"/>
                  <a:pt x="2214847" y="33561"/>
                </a:cubicBezTo>
                <a:cubicBezTo>
                  <a:pt x="2228052" y="32216"/>
                  <a:pt x="2241384" y="33954"/>
                  <a:pt x="2253790" y="38635"/>
                </a:cubicBezTo>
                <a:cubicBezTo>
                  <a:pt x="2294520" y="52169"/>
                  <a:pt x="2338397" y="53007"/>
                  <a:pt x="2379622" y="41045"/>
                </a:cubicBezTo>
                <a:cubicBezTo>
                  <a:pt x="2431756" y="27168"/>
                  <a:pt x="2486503" y="26254"/>
                  <a:pt x="2539069" y="38381"/>
                </a:cubicBezTo>
                <a:cubicBezTo>
                  <a:pt x="2617207" y="55379"/>
                  <a:pt x="2695598" y="72123"/>
                  <a:pt x="2776908" y="58169"/>
                </a:cubicBezTo>
                <a:cubicBezTo>
                  <a:pt x="2824222" y="50178"/>
                  <a:pt x="2868111" y="30770"/>
                  <a:pt x="2914791" y="21637"/>
                </a:cubicBezTo>
                <a:cubicBezTo>
                  <a:pt x="3049249" y="-4620"/>
                  <a:pt x="3184976" y="3244"/>
                  <a:pt x="3320703" y="12124"/>
                </a:cubicBezTo>
                <a:cubicBezTo>
                  <a:pt x="3453259" y="20876"/>
                  <a:pt x="3585179" y="38888"/>
                  <a:pt x="3718496" y="36225"/>
                </a:cubicBezTo>
                <a:cubicBezTo>
                  <a:pt x="3746884" y="36440"/>
                  <a:pt x="3775210" y="38812"/>
                  <a:pt x="3803230" y="43328"/>
                </a:cubicBezTo>
                <a:cubicBezTo>
                  <a:pt x="3907245" y="57028"/>
                  <a:pt x="4011767" y="69966"/>
                  <a:pt x="4114640" y="42313"/>
                </a:cubicBezTo>
                <a:cubicBezTo>
                  <a:pt x="4206871" y="17312"/>
                  <a:pt x="4303111" y="10677"/>
                  <a:pt x="4397891" y="22779"/>
                </a:cubicBezTo>
                <a:cubicBezTo>
                  <a:pt x="4522696" y="39130"/>
                  <a:pt x="4648846" y="42707"/>
                  <a:pt x="4774374" y="33434"/>
                </a:cubicBezTo>
                <a:cubicBezTo>
                  <a:pt x="4813773" y="29515"/>
                  <a:pt x="4853387" y="28107"/>
                  <a:pt x="4892977" y="29248"/>
                </a:cubicBezTo>
                <a:cubicBezTo>
                  <a:pt x="5181681" y="42440"/>
                  <a:pt x="5471273" y="25062"/>
                  <a:pt x="5759471" y="55759"/>
                </a:cubicBezTo>
                <a:cubicBezTo>
                  <a:pt x="5805028" y="61131"/>
                  <a:pt x="5850896" y="61524"/>
                  <a:pt x="5896277" y="57017"/>
                </a:cubicBezTo>
                <a:lnTo>
                  <a:pt x="6006950" y="33749"/>
                </a:lnTo>
                <a:lnTo>
                  <a:pt x="6006950" y="4200116"/>
                </a:lnTo>
                <a:lnTo>
                  <a:pt x="13501" y="4200116"/>
                </a:lnTo>
                <a:lnTo>
                  <a:pt x="28554" y="3862213"/>
                </a:lnTo>
                <a:cubicBezTo>
                  <a:pt x="30457" y="3736758"/>
                  <a:pt x="27411" y="3611386"/>
                  <a:pt x="15626" y="3486312"/>
                </a:cubicBezTo>
                <a:cubicBezTo>
                  <a:pt x="-847" y="3333707"/>
                  <a:pt x="-4304" y="3179990"/>
                  <a:pt x="5296" y="3026802"/>
                </a:cubicBezTo>
                <a:cubicBezTo>
                  <a:pt x="11786" y="2939137"/>
                  <a:pt x="18539" y="2851472"/>
                  <a:pt x="22776" y="2763676"/>
                </a:cubicBezTo>
                <a:cubicBezTo>
                  <a:pt x="28180" y="2638786"/>
                  <a:pt x="25173" y="2513673"/>
                  <a:pt x="13771" y="2389181"/>
                </a:cubicBezTo>
                <a:cubicBezTo>
                  <a:pt x="4237" y="2294247"/>
                  <a:pt x="3177" y="2198663"/>
                  <a:pt x="10593" y="2103543"/>
                </a:cubicBezTo>
                <a:cubicBezTo>
                  <a:pt x="25690" y="1941590"/>
                  <a:pt x="9931" y="1779636"/>
                  <a:pt x="5032" y="1617814"/>
                </a:cubicBezTo>
                <a:cubicBezTo>
                  <a:pt x="-3577" y="1320125"/>
                  <a:pt x="20393" y="1022570"/>
                  <a:pt x="9666" y="724882"/>
                </a:cubicBezTo>
                <a:cubicBezTo>
                  <a:pt x="3841" y="577627"/>
                  <a:pt x="16420" y="430504"/>
                  <a:pt x="9666" y="283249"/>
                </a:cubicBezTo>
                <a:cubicBezTo>
                  <a:pt x="6885" y="230875"/>
                  <a:pt x="4568" y="178502"/>
                  <a:pt x="3409" y="126111"/>
                </a:cubicBezTo>
                <a:lnTo>
                  <a:pt x="3819" y="33427"/>
                </a:lnTo>
                <a:lnTo>
                  <a:pt x="31797" y="28723"/>
                </a:lnTo>
                <a:cubicBezTo>
                  <a:pt x="147177" y="14068"/>
                  <a:pt x="264046" y="13354"/>
                  <a:pt x="379873" y="26711"/>
                </a:cubicBezTo>
                <a:cubicBezTo>
                  <a:pt x="443931" y="35083"/>
                  <a:pt x="508243" y="47768"/>
                  <a:pt x="573442" y="35083"/>
                </a:cubicBezTo>
                <a:cubicBezTo>
                  <a:pt x="579581" y="33992"/>
                  <a:pt x="585759" y="36757"/>
                  <a:pt x="589044" y="42060"/>
                </a:cubicBezTo>
                <a:cubicBezTo>
                  <a:pt x="621264" y="81382"/>
                  <a:pt x="663123" y="80114"/>
                  <a:pt x="705871" y="67429"/>
                </a:cubicBezTo>
                <a:cubicBezTo>
                  <a:pt x="733929" y="58740"/>
                  <a:pt x="761430" y="48326"/>
                  <a:pt x="788194" y="36225"/>
                </a:cubicBezTo>
                <a:cubicBezTo>
                  <a:pt x="835052" y="16792"/>
                  <a:pt x="884827" y="5299"/>
                  <a:pt x="935464" y="2230"/>
                </a:cubicBezTo>
                <a:cubicBezTo>
                  <a:pt x="969111" y="-370"/>
                  <a:pt x="1002567" y="-521"/>
                  <a:pt x="1035902" y="878"/>
                </a:cubicBezTo>
                <a:close/>
              </a:path>
            </a:pathLst>
          </a:custGeom>
          <a:noFill/>
        </p:spPr>
      </p:pic>
      <p:sp>
        <p:nvSpPr>
          <p:cNvPr id="236" name="Google Shape;236;p32"/>
          <p:cNvSpPr txBox="1"/>
          <p:nvPr/>
        </p:nvSpPr>
        <p:spPr>
          <a:xfrm>
            <a:off x="3048000" y="3224480"/>
            <a:ext cx="6096000" cy="4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lang="es-ES"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8" name="Rectangle 27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" name="Google Shape;267;p35"/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>
                <a:schemeClr val="dk1"/>
              </a:buClr>
              <a:buSzPts val="2300"/>
            </a:pP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Work Sans"/>
              </a:rPr>
              <a:t>Sesgos en los datos</a:t>
            </a: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  <a:sym typeface="Work Sans Light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2133"/>
              </a:spcAft>
              <a:buClr>
                <a:srgbClr val="000000"/>
              </a:buClr>
              <a:buSzPts val="2300"/>
            </a:pPr>
            <a:endParaRPr lang="en-US" sz="6600" b="1" kern="1200">
              <a:solidFill>
                <a:schemeClr val="tx1"/>
              </a:solidFill>
              <a:latin typeface="+mj-lt"/>
              <a:ea typeface="+mj-ea"/>
              <a:cs typeface="+mj-cs"/>
              <a:sym typeface="Work Sans"/>
            </a:endParaRPr>
          </a:p>
        </p:txBody>
      </p:sp>
      <p:sp>
        <p:nvSpPr>
          <p:cNvPr id="28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3" name="Google Shape;273;p3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258805" y="2633472"/>
            <a:ext cx="7671342" cy="3586353"/>
          </a:xfrm>
          <a:prstGeom prst="rect">
            <a:avLst/>
          </a:prstGeom>
          <a:noFill/>
        </p:spPr>
      </p:pic>
      <p:sp>
        <p:nvSpPr>
          <p:cNvPr id="268" name="Google Shape;268;p35"/>
          <p:cNvSpPr txBox="1"/>
          <p:nvPr/>
        </p:nvSpPr>
        <p:spPr>
          <a:xfrm>
            <a:off x="3048000" y="3224480"/>
            <a:ext cx="6096000" cy="4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lang="es-ES"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AD9A93-8A8E-D588-271D-1EC371AE135B}"/>
              </a:ext>
            </a:extLst>
          </p:cNvPr>
          <p:cNvSpPr txBox="1"/>
          <p:nvPr/>
        </p:nvSpPr>
        <p:spPr>
          <a:xfrm>
            <a:off x="2395520" y="2084546"/>
            <a:ext cx="7534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El mayor problema en la IA en medicina son los </a:t>
            </a:r>
            <a:r>
              <a:rPr lang="es-ES" dirty="0" err="1"/>
              <a:t>datasets</a:t>
            </a:r>
            <a:r>
              <a:rPr lang="es-ES" dirty="0"/>
              <a:t> desbalanceados.</a:t>
            </a:r>
          </a:p>
          <a:p>
            <a:endParaRPr lang="es-E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8" name="Rectangle 297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Google Shape;287;p37"/>
          <p:cNvSpPr txBox="1"/>
          <p:nvPr/>
        </p:nvSpPr>
        <p:spPr>
          <a:xfrm>
            <a:off x="638881" y="670218"/>
            <a:ext cx="10909640" cy="1065836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>
                <a:schemeClr val="dk1"/>
              </a:buClr>
              <a:buSzPts val="2300"/>
            </a:pPr>
            <a:r>
              <a:rPr lang="en-US" sz="5100" b="1">
                <a:latin typeface="+mj-lt"/>
                <a:ea typeface="+mj-ea"/>
                <a:cs typeface="+mj-cs"/>
                <a:sym typeface="Work Sans"/>
              </a:rPr>
              <a:t>Una IA confiable es trabajo de todos</a:t>
            </a:r>
            <a:endParaRPr lang="en-US" sz="5100">
              <a:latin typeface="+mj-lt"/>
              <a:ea typeface="+mj-ea"/>
              <a:cs typeface="+mj-cs"/>
              <a:sym typeface="Work Sans Light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2133"/>
              </a:spcAft>
              <a:buClr>
                <a:srgbClr val="000000"/>
              </a:buClr>
              <a:buSzPts val="2300"/>
            </a:pPr>
            <a:endParaRPr lang="en-US" sz="5100" b="1">
              <a:latin typeface="+mj-lt"/>
              <a:ea typeface="+mj-ea"/>
              <a:cs typeface="+mj-cs"/>
              <a:sym typeface="Work Sans"/>
            </a:endParaRPr>
          </a:p>
        </p:txBody>
      </p:sp>
      <p:sp>
        <p:nvSpPr>
          <p:cNvPr id="300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2" name="Google Shape;292;p3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92608" y="3362815"/>
            <a:ext cx="3758184" cy="2113978"/>
          </a:xfrm>
          <a:prstGeom prst="rect">
            <a:avLst/>
          </a:prstGeom>
          <a:noFill/>
        </p:spPr>
      </p:pic>
      <p:pic>
        <p:nvPicPr>
          <p:cNvPr id="293" name="Google Shape;293;p37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216908" y="3372211"/>
            <a:ext cx="3758184" cy="2095186"/>
          </a:xfrm>
          <a:prstGeom prst="rect">
            <a:avLst/>
          </a:prstGeom>
          <a:noFill/>
        </p:spPr>
      </p:pic>
      <p:pic>
        <p:nvPicPr>
          <p:cNvPr id="291" name="Google Shape;291;p37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8141208" y="3419188"/>
            <a:ext cx="3758184" cy="2001232"/>
          </a:xfrm>
          <a:prstGeom prst="rect">
            <a:avLst/>
          </a:prstGeom>
          <a:noFill/>
        </p:spPr>
      </p:pic>
      <p:sp>
        <p:nvSpPr>
          <p:cNvPr id="288" name="Google Shape;288;p37"/>
          <p:cNvSpPr txBox="1"/>
          <p:nvPr/>
        </p:nvSpPr>
        <p:spPr>
          <a:xfrm>
            <a:off x="3048000" y="3224480"/>
            <a:ext cx="6096000" cy="4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lang="es-ES"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516</Words>
  <Application>Microsoft Office PowerPoint</Application>
  <PresentationFormat>Panorámica</PresentationFormat>
  <Paragraphs>85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0" baseType="lpstr">
      <vt:lpstr>Aptos</vt:lpstr>
      <vt:lpstr>Aptos Display</vt:lpstr>
      <vt:lpstr>Arial</vt:lpstr>
      <vt:lpstr>Poppins</vt:lpstr>
      <vt:lpstr>Poppins Medium</vt:lpstr>
      <vt:lpstr>Work Sans</vt:lpstr>
      <vt:lpstr>Work Sans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t45625</cp:lastModifiedBy>
  <cp:revision>3</cp:revision>
  <dcterms:created xsi:type="dcterms:W3CDTF">2025-11-29T18:01:09Z</dcterms:created>
  <dcterms:modified xsi:type="dcterms:W3CDTF">2026-05-25T17:00:50Z</dcterms:modified>
</cp:coreProperties>
</file>